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9" r:id="rId5"/>
    <p:sldId id="258" r:id="rId6"/>
    <p:sldId id="260" r:id="rId7"/>
    <p:sldId id="261" r:id="rId8"/>
    <p:sldId id="262" r:id="rId9"/>
    <p:sldId id="263" r:id="rId10"/>
    <p:sldId id="264" r:id="rId11"/>
    <p:sldId id="265" r:id="rId12"/>
    <p:sldId id="266" r:id="rId13"/>
    <p:sldId id="267" r:id="rId14"/>
    <p:sldId id="270"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0" d="100"/>
          <a:sy n="40" d="100"/>
        </p:scale>
        <p:origin x="40" y="7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714A2-1B5B-EA03-8FE5-54518FB4FF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F9D00F-AE4B-7A62-23D6-2C8B72AFFF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45428E-160A-1A42-31B5-81DAD3AD908B}"/>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5" name="Footer Placeholder 4">
            <a:extLst>
              <a:ext uri="{FF2B5EF4-FFF2-40B4-BE49-F238E27FC236}">
                <a16:creationId xmlns:a16="http://schemas.microsoft.com/office/drawing/2014/main" id="{471D79D5-41F8-6CFD-2416-E1077ADCD4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98FE7E-B394-DDC6-C310-8014A3FDBA97}"/>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418529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B40E9-7540-2400-53F7-D625DED833A7}"/>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21697B1-183F-7A3F-85AC-D974B48551A6}"/>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6BB526-9CFC-7088-A7C9-E4BEAD509514}"/>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5" name="Footer Placeholder 4">
            <a:extLst>
              <a:ext uri="{FF2B5EF4-FFF2-40B4-BE49-F238E27FC236}">
                <a16:creationId xmlns:a16="http://schemas.microsoft.com/office/drawing/2014/main" id="{87419034-AA6C-F329-65BC-FB1068D29D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DAAE19-ED81-E1A5-FF85-783C735E1E61}"/>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1730237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24663-E844-EA9E-C08C-CB715B80A4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E67DB0-5D00-D77B-F87A-5003B64CCE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1BB084-AAD2-37BA-BC30-EBEE929F4E6F}"/>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5" name="Footer Placeholder 4">
            <a:extLst>
              <a:ext uri="{FF2B5EF4-FFF2-40B4-BE49-F238E27FC236}">
                <a16:creationId xmlns:a16="http://schemas.microsoft.com/office/drawing/2014/main" id="{930DBAEE-A589-2A2B-A7DA-AFB5366FE9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A4296B-B97F-FE59-455D-BA0812705BD6}"/>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2798266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64F3A-16F3-108F-ECD1-5A5AEA1595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786AD0-7581-9880-9074-128C92D78E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A70B3A-A289-C4E5-1BDD-F54E5B373E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05CDAE-BCBD-FE46-4B3F-880353F1BF07}"/>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6" name="Footer Placeholder 5">
            <a:extLst>
              <a:ext uri="{FF2B5EF4-FFF2-40B4-BE49-F238E27FC236}">
                <a16:creationId xmlns:a16="http://schemas.microsoft.com/office/drawing/2014/main" id="{2CAD8A50-33E8-1E4F-7EDA-EF1A1444F8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5B8F2-78AB-279C-CB59-BE5DE2C283A3}"/>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3223758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5BA33-759C-8735-BDC0-0CE94AA458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218BB4-EA4A-4986-6B68-DE8C0C4F7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6A9FB5-0A9F-A71C-5583-A911091E2C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185A78-F0C2-5C32-A04A-A4E4051960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A6C95E-5CEC-CA7B-5EE1-699147665B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CDA314-D696-1351-5601-028B715E5C99}"/>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8" name="Footer Placeholder 7">
            <a:extLst>
              <a:ext uri="{FF2B5EF4-FFF2-40B4-BE49-F238E27FC236}">
                <a16:creationId xmlns:a16="http://schemas.microsoft.com/office/drawing/2014/main" id="{7B2F7FE1-099E-B93E-2370-B7EB6E4E33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1E1192-624A-021E-E838-5CD2EA65D963}"/>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224127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CBEE-F604-47BB-AF2E-35FD758832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766C25-CD70-654B-8AD1-37F68E5A424C}"/>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4" name="Footer Placeholder 3">
            <a:extLst>
              <a:ext uri="{FF2B5EF4-FFF2-40B4-BE49-F238E27FC236}">
                <a16:creationId xmlns:a16="http://schemas.microsoft.com/office/drawing/2014/main" id="{47044065-BC53-1407-3ACA-7D9509BC02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FD1C82-A88C-3A47-EA6C-DD695EAE90C0}"/>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2054203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39F49F-4531-C227-BE57-E2C019A42E93}"/>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3" name="Footer Placeholder 2">
            <a:extLst>
              <a:ext uri="{FF2B5EF4-FFF2-40B4-BE49-F238E27FC236}">
                <a16:creationId xmlns:a16="http://schemas.microsoft.com/office/drawing/2014/main" id="{DC86D152-68A1-7582-DEC5-FBE0002B11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B38C0E-D870-49BB-C13D-F2D02016F192}"/>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353012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3B7FD-2F18-2D46-5162-B0E7A30136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A30788-F378-D984-3DDE-84D1D390FC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88B12F-9BC0-D7B0-760C-C3C530F93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10FFE8-DC43-87ED-454A-048F22734E89}"/>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6" name="Footer Placeholder 5">
            <a:extLst>
              <a:ext uri="{FF2B5EF4-FFF2-40B4-BE49-F238E27FC236}">
                <a16:creationId xmlns:a16="http://schemas.microsoft.com/office/drawing/2014/main" id="{56E49CB8-448C-91E6-100F-F5B2098743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66E1F3-93DE-ED90-F170-BDDB115A196D}"/>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3808208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5FD83-9550-5C2B-AC24-9AFE85E6DB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0C5D9D-FB75-019C-367D-EF29E959F0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CCD54F-D6D2-655B-D713-5F7492B0E2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C0890-66E6-EE45-140A-FECE21D8BCFD}"/>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6" name="Footer Placeholder 5">
            <a:extLst>
              <a:ext uri="{FF2B5EF4-FFF2-40B4-BE49-F238E27FC236}">
                <a16:creationId xmlns:a16="http://schemas.microsoft.com/office/drawing/2014/main" id="{F2C60DF4-2972-DF20-47DA-39FC25E5F6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85F32C-3A8E-5F2F-7A28-2ACA63375FE8}"/>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3917668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AA045-5C8E-07FD-CB12-47DA3E36F7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C5D3CD-640A-F0F5-24CF-3410EB6451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8CFB15-4F78-15D7-E9B2-1E53EB2E1019}"/>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5" name="Footer Placeholder 4">
            <a:extLst>
              <a:ext uri="{FF2B5EF4-FFF2-40B4-BE49-F238E27FC236}">
                <a16:creationId xmlns:a16="http://schemas.microsoft.com/office/drawing/2014/main" id="{28F365CF-F5D8-0EE3-AC65-CD18EA483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CE62C-59B5-F076-8BBC-0E85D7B082F4}"/>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2901439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624E0A-D4E7-7047-64CF-47EA2FB7D8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49291D-A6A6-B12C-0A9E-6B1D7F9632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71F39F-D541-E753-211E-90E3C4D322AE}"/>
              </a:ext>
            </a:extLst>
          </p:cNvPr>
          <p:cNvSpPr>
            <a:spLocks noGrp="1"/>
          </p:cNvSpPr>
          <p:nvPr>
            <p:ph type="dt" sz="half" idx="10"/>
          </p:nvPr>
        </p:nvSpPr>
        <p:spPr/>
        <p:txBody>
          <a:bodyPr/>
          <a:lstStyle/>
          <a:p>
            <a:fld id="{1D5FC388-193D-448A-9B7F-D0B441A36452}" type="datetimeFigureOut">
              <a:rPr lang="en-US" smtClean="0"/>
              <a:t>5/6/2026</a:t>
            </a:fld>
            <a:endParaRPr lang="en-US"/>
          </a:p>
        </p:txBody>
      </p:sp>
      <p:sp>
        <p:nvSpPr>
          <p:cNvPr id="5" name="Footer Placeholder 4">
            <a:extLst>
              <a:ext uri="{FF2B5EF4-FFF2-40B4-BE49-F238E27FC236}">
                <a16:creationId xmlns:a16="http://schemas.microsoft.com/office/drawing/2014/main" id="{22EA1750-2CF1-985B-D1FC-A76C4A43C9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76AB1-E457-3B09-9F03-8CBDE39D9574}"/>
              </a:ext>
            </a:extLst>
          </p:cNvPr>
          <p:cNvSpPr>
            <a:spLocks noGrp="1"/>
          </p:cNvSpPr>
          <p:nvPr>
            <p:ph type="sldNum" sz="quarter" idx="12"/>
          </p:nvPr>
        </p:nvSpPr>
        <p:spPr/>
        <p:txBody>
          <a:bodyPr/>
          <a:lstStyle/>
          <a:p>
            <a:fld id="{2409427E-D5D1-4AE1-8A89-C7FD4E6FCA26}" type="slidenum">
              <a:rPr lang="en-US" smtClean="0"/>
              <a:t>‹#›</a:t>
            </a:fld>
            <a:endParaRPr lang="en-US"/>
          </a:p>
        </p:txBody>
      </p:sp>
    </p:spTree>
    <p:extLst>
      <p:ext uri="{BB962C8B-B14F-4D97-AF65-F5344CB8AC3E}">
        <p14:creationId xmlns:p14="http://schemas.microsoft.com/office/powerpoint/2010/main" val="366494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AB26-6CF1-721F-0A20-997C185D6D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A7573D-2F30-FF8E-F056-27509D4DB4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42A91A-E579-9916-9A03-F143FC0AE34C}"/>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5" name="Footer Placeholder 4">
            <a:extLst>
              <a:ext uri="{FF2B5EF4-FFF2-40B4-BE49-F238E27FC236}">
                <a16:creationId xmlns:a16="http://schemas.microsoft.com/office/drawing/2014/main" id="{ADDE3591-8D6D-AA79-859A-E9931F0140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5DFA8-3D61-DBA5-7B83-D39464F3551B}"/>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2435225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84D0F-E818-0EF7-ECB7-10FB127F53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61AFEE-A821-DDA0-83AE-99BE7A8FB9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6AA2F1-D835-E6ED-25B1-09AA20375F5D}"/>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5" name="Footer Placeholder 4">
            <a:extLst>
              <a:ext uri="{FF2B5EF4-FFF2-40B4-BE49-F238E27FC236}">
                <a16:creationId xmlns:a16="http://schemas.microsoft.com/office/drawing/2014/main" id="{8A6837C7-E983-FEF8-A6D4-DA15B6CDC7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1071EB-E6FC-B462-173C-C09731FF6D64}"/>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544535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658C7-7857-4687-6F51-659C5684C6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517B6B-96DD-64D6-8EA6-2D62B722EE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7B7862-82A5-D2D7-648D-A3E1F897EF0F}"/>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5" name="Footer Placeholder 4">
            <a:extLst>
              <a:ext uri="{FF2B5EF4-FFF2-40B4-BE49-F238E27FC236}">
                <a16:creationId xmlns:a16="http://schemas.microsoft.com/office/drawing/2014/main" id="{D0BA291B-BE1B-5D3E-DA40-441B89E28A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1AF1C5-18DB-66C1-78A5-62DF1FDEC05B}"/>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23523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EF777-967A-420F-B748-D3C5036BDD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FBD488-E90A-8A49-2316-A908A863A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74833A-7D29-B9CE-C2D7-46A3F4BBF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F53551-CB3F-2F3C-DD60-2D724153971E}"/>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6" name="Footer Placeholder 5">
            <a:extLst>
              <a:ext uri="{FF2B5EF4-FFF2-40B4-BE49-F238E27FC236}">
                <a16:creationId xmlns:a16="http://schemas.microsoft.com/office/drawing/2014/main" id="{D2E05584-0583-F8A9-08C1-D5446054C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9FCF91-50F4-BE2C-BA22-00032CC460A2}"/>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544189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A5139-9735-6F8D-199A-3F3B96C146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222FC2-5C5D-23AA-AC88-5EC30245FB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DAD53C-C69D-3855-9AFB-B043BFFF11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F1300A-61CB-E85E-114F-424B799ED6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D20D83-1306-F42A-592F-B6E17E89F7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DFCD09-811B-05DF-F7A1-EA90FCED8166}"/>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8" name="Footer Placeholder 7">
            <a:extLst>
              <a:ext uri="{FF2B5EF4-FFF2-40B4-BE49-F238E27FC236}">
                <a16:creationId xmlns:a16="http://schemas.microsoft.com/office/drawing/2014/main" id="{CA617F5B-DBC8-18AC-04D6-615F0916CB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4019AF-113C-839B-FA4A-A9A2A26143F0}"/>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3242086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3ED2E-F86A-888E-6E41-7F4963DBB4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1E2109-CAD1-D313-5E2E-876F8FEE745B}"/>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4" name="Footer Placeholder 3">
            <a:extLst>
              <a:ext uri="{FF2B5EF4-FFF2-40B4-BE49-F238E27FC236}">
                <a16:creationId xmlns:a16="http://schemas.microsoft.com/office/drawing/2014/main" id="{7114F4A7-2C37-6305-2F9E-797AD70DE6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D0288C-7DB4-A143-51BE-1D788281BDEA}"/>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17481795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079438-3635-853B-906F-A578EF1CD731}"/>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3" name="Footer Placeholder 2">
            <a:extLst>
              <a:ext uri="{FF2B5EF4-FFF2-40B4-BE49-F238E27FC236}">
                <a16:creationId xmlns:a16="http://schemas.microsoft.com/office/drawing/2014/main" id="{52F66DE4-48DE-8023-132C-5830E5598A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E20E4D-DECF-26CA-A75F-B4B520012400}"/>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4219195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7C919-2F5C-9B0F-C019-FEC097C68A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4FA0F1-D54C-1896-E6D0-60D0CCF9E6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67E767-6E93-CFE0-6719-FF3A773C43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5E3657-2826-05CD-D81C-2D5391E96543}"/>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6" name="Footer Placeholder 5">
            <a:extLst>
              <a:ext uri="{FF2B5EF4-FFF2-40B4-BE49-F238E27FC236}">
                <a16:creationId xmlns:a16="http://schemas.microsoft.com/office/drawing/2014/main" id="{32C134FD-7BAA-1784-46AF-5BA37B9989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62E117-E778-B788-05D3-3D2AD40401F0}"/>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1766908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0A355-CE34-4060-C214-2D76BF49E6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773F81-29D5-77FC-D98F-81A6714D98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8FCF65-42D1-F144-E5CD-3CEE186AEE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24008E-9B6A-88C9-7101-9AD97F8E9205}"/>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6" name="Footer Placeholder 5">
            <a:extLst>
              <a:ext uri="{FF2B5EF4-FFF2-40B4-BE49-F238E27FC236}">
                <a16:creationId xmlns:a16="http://schemas.microsoft.com/office/drawing/2014/main" id="{206E73E4-B72B-4267-6305-CDA7F8520F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284F52-8195-E37A-25B6-121AEC75ACB9}"/>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3656377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524F1-991C-F82F-FDE7-CE172163F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6A9569-6977-87ED-3948-523F84EDF1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599281-642C-5CFE-24BD-B667676685BD}"/>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5" name="Footer Placeholder 4">
            <a:extLst>
              <a:ext uri="{FF2B5EF4-FFF2-40B4-BE49-F238E27FC236}">
                <a16:creationId xmlns:a16="http://schemas.microsoft.com/office/drawing/2014/main" id="{DF062280-B7BF-15D8-5796-C96DB9B34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F5703-B863-9592-188F-13203A33659D}"/>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12221977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857693-B40E-5528-F1FD-C1CEA04B23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EC60C0-95D0-30D6-22A6-0A68266459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22B94A-8A00-4775-98A5-62B4EBEB210E}"/>
              </a:ext>
            </a:extLst>
          </p:cNvPr>
          <p:cNvSpPr>
            <a:spLocks noGrp="1"/>
          </p:cNvSpPr>
          <p:nvPr>
            <p:ph type="dt" sz="half" idx="10"/>
          </p:nvPr>
        </p:nvSpPr>
        <p:spPr/>
        <p:txBody>
          <a:bodyPr/>
          <a:lstStyle/>
          <a:p>
            <a:fld id="{EE6A3CC6-8314-476B-BB68-07D9E68FC965}" type="datetimeFigureOut">
              <a:rPr lang="en-US" smtClean="0"/>
              <a:t>5/7/2026</a:t>
            </a:fld>
            <a:endParaRPr lang="en-US"/>
          </a:p>
        </p:txBody>
      </p:sp>
      <p:sp>
        <p:nvSpPr>
          <p:cNvPr id="5" name="Footer Placeholder 4">
            <a:extLst>
              <a:ext uri="{FF2B5EF4-FFF2-40B4-BE49-F238E27FC236}">
                <a16:creationId xmlns:a16="http://schemas.microsoft.com/office/drawing/2014/main" id="{F166FB61-5770-6A4D-9B5B-EE6C7DEB3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25889E-ED55-CA34-A736-2F609CA7DFA9}"/>
              </a:ext>
            </a:extLst>
          </p:cNvPr>
          <p:cNvSpPr>
            <a:spLocks noGrp="1"/>
          </p:cNvSpPr>
          <p:nvPr>
            <p:ph type="sldNum" sz="quarter" idx="12"/>
          </p:nvPr>
        </p:nvSpPr>
        <p:spPr/>
        <p:txBody>
          <a:bodyPr/>
          <a:lstStyle/>
          <a:p>
            <a:fld id="{9FE39B0D-4FFF-470A-BFD6-591C1747D28D}" type="slidenum">
              <a:rPr lang="en-US" smtClean="0"/>
              <a:t>‹#›</a:t>
            </a:fld>
            <a:endParaRPr lang="en-US"/>
          </a:p>
        </p:txBody>
      </p:sp>
    </p:spTree>
    <p:extLst>
      <p:ext uri="{BB962C8B-B14F-4D97-AF65-F5344CB8AC3E}">
        <p14:creationId xmlns:p14="http://schemas.microsoft.com/office/powerpoint/2010/main" val="224120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40E53C-15E9-A88F-0D9D-9B774CD6A1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030C60-D22F-8115-E9A0-FB000932A8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28B4C2-5221-7519-2E25-BF3FE5D376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5FC388-193D-448A-9B7F-D0B441A36452}" type="datetimeFigureOut">
              <a:rPr lang="en-US" smtClean="0"/>
              <a:t>5/6/2026</a:t>
            </a:fld>
            <a:endParaRPr lang="en-US"/>
          </a:p>
        </p:txBody>
      </p:sp>
      <p:sp>
        <p:nvSpPr>
          <p:cNvPr id="5" name="Footer Placeholder 4">
            <a:extLst>
              <a:ext uri="{FF2B5EF4-FFF2-40B4-BE49-F238E27FC236}">
                <a16:creationId xmlns:a16="http://schemas.microsoft.com/office/drawing/2014/main" id="{3CCA9844-8E56-DA72-ECAD-F132A026A3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B96C19-5B08-F10A-D10C-D11281123D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09427E-D5D1-4AE1-8A89-C7FD4E6FCA26}" type="slidenum">
              <a:rPr lang="en-US" smtClean="0"/>
              <a:t>‹#›</a:t>
            </a:fld>
            <a:endParaRPr lang="en-US"/>
          </a:p>
        </p:txBody>
      </p:sp>
    </p:spTree>
    <p:extLst>
      <p:ext uri="{BB962C8B-B14F-4D97-AF65-F5344CB8AC3E}">
        <p14:creationId xmlns:p14="http://schemas.microsoft.com/office/powerpoint/2010/main" val="1690701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2FEE4-67DA-08D5-C571-BB44D8B278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A4527C-CEFF-37A1-76BE-731AD4055A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FB06F-3834-918A-A9F7-E9B15240FF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6A3CC6-8314-476B-BB68-07D9E68FC965}" type="datetimeFigureOut">
              <a:rPr lang="en-US" smtClean="0"/>
              <a:t>5/7/2026</a:t>
            </a:fld>
            <a:endParaRPr lang="en-US"/>
          </a:p>
        </p:txBody>
      </p:sp>
      <p:sp>
        <p:nvSpPr>
          <p:cNvPr id="5" name="Footer Placeholder 4">
            <a:extLst>
              <a:ext uri="{FF2B5EF4-FFF2-40B4-BE49-F238E27FC236}">
                <a16:creationId xmlns:a16="http://schemas.microsoft.com/office/drawing/2014/main" id="{FCA679B5-B045-00D1-5EE4-E5AEE0F275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DA45098-FF8E-B2F4-CF22-537E93643D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E39B0D-4FFF-470A-BFD6-591C1747D28D}" type="slidenum">
              <a:rPr lang="en-US" smtClean="0"/>
              <a:t>‹#›</a:t>
            </a:fld>
            <a:endParaRPr lang="en-US"/>
          </a:p>
        </p:txBody>
      </p:sp>
    </p:spTree>
    <p:extLst>
      <p:ext uri="{BB962C8B-B14F-4D97-AF65-F5344CB8AC3E}">
        <p14:creationId xmlns:p14="http://schemas.microsoft.com/office/powerpoint/2010/main" val="3261983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1E48-F380-6DEA-8D0A-1F3CC162FF8A}"/>
              </a:ext>
            </a:extLst>
          </p:cNvPr>
          <p:cNvSpPr>
            <a:spLocks noGrp="1"/>
          </p:cNvSpPr>
          <p:nvPr>
            <p:ph type="ctrTitle"/>
          </p:nvPr>
        </p:nvSpPr>
        <p:spPr/>
        <p:txBody>
          <a:bodyPr/>
          <a:lstStyle/>
          <a:p>
            <a:r>
              <a:rPr lang="en-US" dirty="0"/>
              <a:t>DATABASE SYSTEMS PROJECT</a:t>
            </a:r>
          </a:p>
        </p:txBody>
      </p:sp>
      <p:sp>
        <p:nvSpPr>
          <p:cNvPr id="3" name="Subtitle 2">
            <a:extLst>
              <a:ext uri="{FF2B5EF4-FFF2-40B4-BE49-F238E27FC236}">
                <a16:creationId xmlns:a16="http://schemas.microsoft.com/office/drawing/2014/main" id="{A6D3AFA5-2291-9AA1-32EA-7792298C641C}"/>
              </a:ext>
            </a:extLst>
          </p:cNvPr>
          <p:cNvSpPr>
            <a:spLocks noGrp="1"/>
          </p:cNvSpPr>
          <p:nvPr>
            <p:ph type="subTitle" idx="1"/>
          </p:nvPr>
        </p:nvSpPr>
        <p:spPr>
          <a:xfrm>
            <a:off x="1524000" y="3602037"/>
            <a:ext cx="9144000" cy="2590215"/>
          </a:xfrm>
        </p:spPr>
        <p:txBody>
          <a:bodyPr>
            <a:normAutofit/>
          </a:bodyPr>
          <a:lstStyle/>
          <a:p>
            <a:r>
              <a:rPr lang="en-US" sz="2000" dirty="0"/>
              <a:t>GROUP PROJERCT     </a:t>
            </a:r>
            <a:r>
              <a:rPr lang="en-US" dirty="0"/>
              <a:t>LIBRARY DATABASE</a:t>
            </a:r>
          </a:p>
          <a:p>
            <a:r>
              <a:rPr lang="en-US" sz="2000" dirty="0"/>
              <a:t>AREA CHOSEN </a:t>
            </a:r>
            <a:r>
              <a:rPr lang="en-US" dirty="0"/>
              <a:t>CIRCULATION SYSTEM</a:t>
            </a:r>
          </a:p>
          <a:p>
            <a:r>
              <a:rPr lang="en-US" dirty="0"/>
              <a:t>Prepared By: Agatha</a:t>
            </a:r>
            <a:br>
              <a:rPr lang="en-US" dirty="0"/>
            </a:br>
            <a:r>
              <a:rPr lang="en-US" dirty="0"/>
              <a:t>Course Unit: Database Management Systems</a:t>
            </a:r>
            <a:br>
              <a:rPr lang="en-US" dirty="0"/>
            </a:br>
            <a:r>
              <a:rPr lang="en-US" dirty="0"/>
              <a:t>lecturer: Baguma Kenneth</a:t>
            </a:r>
            <a:br>
              <a:rPr lang="en-US" dirty="0"/>
            </a:br>
            <a:r>
              <a:rPr lang="en-US" dirty="0"/>
              <a:t>Date:  4thMay 2026</a:t>
            </a:r>
          </a:p>
        </p:txBody>
      </p:sp>
    </p:spTree>
    <p:extLst>
      <p:ext uri="{BB962C8B-B14F-4D97-AF65-F5344CB8AC3E}">
        <p14:creationId xmlns:p14="http://schemas.microsoft.com/office/powerpoint/2010/main" val="3814898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04D56-91B7-A983-5968-0E3063A1D6A3}"/>
              </a:ext>
            </a:extLst>
          </p:cNvPr>
          <p:cNvSpPr>
            <a:spLocks noGrp="1"/>
          </p:cNvSpPr>
          <p:nvPr>
            <p:ph type="title"/>
          </p:nvPr>
        </p:nvSpPr>
        <p:spPr/>
        <p:txBody>
          <a:bodyPr/>
          <a:lstStyle/>
          <a:p>
            <a:r>
              <a:rPr lang="en-US" dirty="0"/>
              <a:t>         The library circulation system</a:t>
            </a:r>
          </a:p>
        </p:txBody>
      </p:sp>
      <p:sp>
        <p:nvSpPr>
          <p:cNvPr id="3" name="Content Placeholder 2">
            <a:extLst>
              <a:ext uri="{FF2B5EF4-FFF2-40B4-BE49-F238E27FC236}">
                <a16:creationId xmlns:a16="http://schemas.microsoft.com/office/drawing/2014/main" id="{8580D5EE-C045-F41A-2B51-3832C05584E6}"/>
              </a:ext>
            </a:extLst>
          </p:cNvPr>
          <p:cNvSpPr>
            <a:spLocks noGrp="1"/>
          </p:cNvSpPr>
          <p:nvPr>
            <p:ph idx="1"/>
          </p:nvPr>
        </p:nvSpPr>
        <p:spPr/>
        <p:txBody>
          <a:bodyPr/>
          <a:lstStyle/>
          <a:p>
            <a:pPr marL="0" indent="0">
              <a:buNone/>
            </a:pPr>
            <a:r>
              <a:rPr lang="en-US" dirty="0"/>
              <a:t>     A Library Circulation System is a database system that manages the borrowing and returning of books and keeps records of library members and library materials</a:t>
            </a:r>
          </a:p>
          <a:p>
            <a:pPr marL="0" indent="0">
              <a:buNone/>
            </a:pPr>
            <a:r>
              <a:rPr lang="en-US" dirty="0"/>
              <a:t>  </a:t>
            </a:r>
          </a:p>
        </p:txBody>
      </p:sp>
    </p:spTree>
    <p:extLst>
      <p:ext uri="{BB962C8B-B14F-4D97-AF65-F5344CB8AC3E}">
        <p14:creationId xmlns:p14="http://schemas.microsoft.com/office/powerpoint/2010/main" val="98666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957FB-ED41-950C-F125-BF0BDAFFE34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7180CAE7-6CC2-57DD-3DF2-C6F59D8B93C3}"/>
              </a:ext>
            </a:extLst>
          </p:cNvPr>
          <p:cNvSpPr>
            <a:spLocks noGrp="1"/>
          </p:cNvSpPr>
          <p:nvPr>
            <p:ph idx="1"/>
          </p:nvPr>
        </p:nvSpPr>
        <p:spPr/>
        <p:txBody>
          <a:bodyPr/>
          <a:lstStyle/>
          <a:p>
            <a:endParaRPr lang="en-US" dirty="0"/>
          </a:p>
          <a:p>
            <a:pPr marL="0" indent="0">
              <a:buNone/>
            </a:pPr>
            <a:r>
              <a:rPr lang="en-US" b="1" dirty="0">
                <a:latin typeface="Times New Roman" panose="02020603050405020304" pitchFamily="18" charset="0"/>
                <a:cs typeface="Times New Roman" panose="02020603050405020304" pitchFamily="18" charset="0"/>
              </a:rPr>
              <a:t>The Main Objective  is to design and implement a library circulation database system which:</a:t>
            </a:r>
          </a:p>
          <a:p>
            <a:pPr marL="0" indent="0">
              <a:buNone/>
            </a:pPr>
            <a:r>
              <a:rPr lang="en-US" dirty="0"/>
              <a:t>         </a:t>
            </a:r>
          </a:p>
        </p:txBody>
      </p:sp>
      <p:sp>
        <p:nvSpPr>
          <p:cNvPr id="5" name="Rectangle 2">
            <a:extLst>
              <a:ext uri="{FF2B5EF4-FFF2-40B4-BE49-F238E27FC236}">
                <a16:creationId xmlns:a16="http://schemas.microsoft.com/office/drawing/2014/main" id="{B4D61CB5-6EC4-C4E6-F02A-3B449EF7DC57}"/>
              </a:ext>
            </a:extLst>
          </p:cNvPr>
          <p:cNvSpPr>
            <a:spLocks noChangeArrowheads="1"/>
          </p:cNvSpPr>
          <p:nvPr/>
        </p:nvSpPr>
        <p:spPr bwMode="auto">
          <a:xfrm>
            <a:off x="1155032" y="3092134"/>
            <a:ext cx="425603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store member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manage book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track borrowed and returned books.</a:t>
            </a: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77604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2C681-EDA1-02F4-C995-551326C3115E}"/>
              </a:ext>
            </a:extLst>
          </p:cNvPr>
          <p:cNvSpPr>
            <a:spLocks noGrp="1"/>
          </p:cNvSpPr>
          <p:nvPr>
            <p:ph type="title"/>
          </p:nvPr>
        </p:nvSpPr>
        <p:spPr/>
        <p:txBody>
          <a:bodyPr/>
          <a:lstStyle/>
          <a:p>
            <a:r>
              <a:rPr lang="en-US" dirty="0"/>
              <a:t>Major importance and problem solved</a:t>
            </a:r>
          </a:p>
        </p:txBody>
      </p:sp>
      <p:sp>
        <p:nvSpPr>
          <p:cNvPr id="3" name="Content Placeholder 2">
            <a:extLst>
              <a:ext uri="{FF2B5EF4-FFF2-40B4-BE49-F238E27FC236}">
                <a16:creationId xmlns:a16="http://schemas.microsoft.com/office/drawing/2014/main" id="{2D4D1BFF-E666-D776-C89A-F0F00FC9C81B}"/>
              </a:ext>
            </a:extLst>
          </p:cNvPr>
          <p:cNvSpPr>
            <a:spLocks noGrp="1"/>
          </p:cNvSpPr>
          <p:nvPr>
            <p:ph idx="1"/>
          </p:nvPr>
        </p:nvSpPr>
        <p:spPr/>
        <p:txBody>
          <a:bodyPr/>
          <a:lstStyle/>
          <a:p>
            <a:pPr marL="0" indent="0">
              <a:buNone/>
            </a:pPr>
            <a:r>
              <a:rPr lang="en-US" dirty="0"/>
              <a:t>        </a:t>
            </a:r>
          </a:p>
          <a:p>
            <a:pPr marL="0" indent="0">
              <a:buNone/>
            </a:pPr>
            <a:r>
              <a:rPr lang="en-US" dirty="0"/>
              <a:t>       managing records manually can lead to loss of information , errors and delays , so the circulation system solves this by automating the library process thus making the process easier , faster with increased security and favorable environment for the storage of the library material as well as easing the managerial work due to improved record keeping that help  keep track of the library services and resources</a:t>
            </a:r>
          </a:p>
        </p:txBody>
      </p:sp>
    </p:spTree>
    <p:extLst>
      <p:ext uri="{BB962C8B-B14F-4D97-AF65-F5344CB8AC3E}">
        <p14:creationId xmlns:p14="http://schemas.microsoft.com/office/powerpoint/2010/main" val="541442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50423-A509-D73A-85B3-33F1ED6ED467}"/>
              </a:ext>
            </a:extLst>
          </p:cNvPr>
          <p:cNvSpPr>
            <a:spLocks noGrp="1"/>
          </p:cNvSpPr>
          <p:nvPr>
            <p:ph type="title"/>
          </p:nvPr>
        </p:nvSpPr>
        <p:spPr/>
        <p:txBody>
          <a:bodyPr/>
          <a:lstStyle/>
          <a:p>
            <a:r>
              <a:rPr lang="en-US" dirty="0"/>
              <a:t>Major goals of our system</a:t>
            </a:r>
          </a:p>
        </p:txBody>
      </p:sp>
      <p:sp>
        <p:nvSpPr>
          <p:cNvPr id="3" name="Content Placeholder 2">
            <a:extLst>
              <a:ext uri="{FF2B5EF4-FFF2-40B4-BE49-F238E27FC236}">
                <a16:creationId xmlns:a16="http://schemas.microsoft.com/office/drawing/2014/main" id="{B75D0939-E964-4FEB-7A0F-68FF642CE965}"/>
              </a:ext>
            </a:extLst>
          </p:cNvPr>
          <p:cNvSpPr>
            <a:spLocks noGrp="1"/>
          </p:cNvSpPr>
          <p:nvPr>
            <p:ph idx="1"/>
          </p:nvPr>
        </p:nvSpPr>
        <p:spPr/>
        <p:txBody>
          <a:bodyPr/>
          <a:lstStyle/>
          <a:p>
            <a:pPr marL="0" indent="0">
              <a:buNone/>
            </a:pPr>
            <a:r>
              <a:rPr lang="en-US" dirty="0"/>
              <a:t> To reduce data redundance and  improve efficiency in library operations. Data redundancy is the unnecessary repetition or duplication of data in a database.</a:t>
            </a:r>
          </a:p>
          <a:p>
            <a:pPr marL="0" indent="0">
              <a:buNone/>
            </a:pPr>
            <a:r>
              <a:rPr lang="en-US" dirty="0"/>
              <a:t>Our system reduces data redundancy by organizing information into separate related tables in MySQL.</a:t>
            </a:r>
          </a:p>
          <a:p>
            <a:pPr marL="0" indent="0">
              <a:buNone/>
            </a:pPr>
            <a:r>
              <a:rPr lang="en-US" dirty="0"/>
              <a:t>Instead of repeating the same data many times, the system stores data once and links tables using keys.</a:t>
            </a:r>
          </a:p>
          <a:p>
            <a:pPr marL="0" indent="0">
              <a:buNone/>
            </a:pPr>
            <a:endParaRPr lang="en-US" dirty="0"/>
          </a:p>
        </p:txBody>
      </p:sp>
    </p:spTree>
    <p:extLst>
      <p:ext uri="{BB962C8B-B14F-4D97-AF65-F5344CB8AC3E}">
        <p14:creationId xmlns:p14="http://schemas.microsoft.com/office/powerpoint/2010/main" val="1393778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41360-C662-DC3D-3F78-AD2A77BDC246}"/>
              </a:ext>
            </a:extLst>
          </p:cNvPr>
          <p:cNvSpPr>
            <a:spLocks noGrp="1"/>
          </p:cNvSpPr>
          <p:nvPr>
            <p:ph type="title"/>
          </p:nvPr>
        </p:nvSpPr>
        <p:spPr/>
        <p:txBody>
          <a:bodyPr/>
          <a:lstStyle/>
          <a:p>
            <a:r>
              <a:rPr lang="en-US" dirty="0"/>
              <a:t>SCOPE OF THE SYSTEM</a:t>
            </a:r>
          </a:p>
        </p:txBody>
      </p:sp>
      <p:sp>
        <p:nvSpPr>
          <p:cNvPr id="3" name="Content Placeholder 2">
            <a:extLst>
              <a:ext uri="{FF2B5EF4-FFF2-40B4-BE49-F238E27FC236}">
                <a16:creationId xmlns:a16="http://schemas.microsoft.com/office/drawing/2014/main" id="{AC545773-C3F8-5FDF-0736-BA1017172C28}"/>
              </a:ext>
            </a:extLst>
          </p:cNvPr>
          <p:cNvSpPr>
            <a:spLocks noGrp="1"/>
          </p:cNvSpPr>
          <p:nvPr>
            <p:ph idx="1"/>
          </p:nvPr>
        </p:nvSpPr>
        <p:spPr/>
        <p:txBody>
          <a:bodyPr/>
          <a:lstStyle/>
          <a:p>
            <a:pPr marL="0" indent="0">
              <a:buNone/>
            </a:pPr>
            <a:r>
              <a:rPr lang="en-US" dirty="0"/>
              <a:t>Book management</a:t>
            </a:r>
          </a:p>
          <a:p>
            <a:pPr marL="0" indent="0">
              <a:buNone/>
            </a:pPr>
            <a:r>
              <a:rPr lang="en-US" dirty="0"/>
              <a:t>Storing the books</a:t>
            </a:r>
          </a:p>
          <a:p>
            <a:pPr marL="0" indent="0">
              <a:buNone/>
            </a:pPr>
            <a:r>
              <a:rPr lang="en-US" dirty="0"/>
              <a:t>Borrowing books</a:t>
            </a:r>
          </a:p>
          <a:p>
            <a:pPr marL="0" indent="0">
              <a:buNone/>
            </a:pPr>
            <a:r>
              <a:rPr lang="en-US" dirty="0"/>
              <a:t>Returning books</a:t>
            </a:r>
          </a:p>
          <a:p>
            <a:pPr marL="0" indent="0">
              <a:buNone/>
            </a:pPr>
            <a:r>
              <a:rPr lang="en-US" dirty="0"/>
              <a:t>Tracking overdue books</a:t>
            </a:r>
          </a:p>
          <a:p>
            <a:pPr marL="0" indent="0">
              <a:buNone/>
            </a:pPr>
            <a:r>
              <a:rPr lang="en-US" dirty="0"/>
              <a:t>Issuing loans </a:t>
            </a:r>
          </a:p>
        </p:txBody>
      </p:sp>
    </p:spTree>
    <p:extLst>
      <p:ext uri="{BB962C8B-B14F-4D97-AF65-F5344CB8AC3E}">
        <p14:creationId xmlns:p14="http://schemas.microsoft.com/office/powerpoint/2010/main" val="3261606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09E46-0AE4-3ABE-5A24-CDF16B5174F5}"/>
              </a:ext>
            </a:extLst>
          </p:cNvPr>
          <p:cNvSpPr>
            <a:spLocks noGrp="1"/>
          </p:cNvSpPr>
          <p:nvPr>
            <p:ph type="title"/>
          </p:nvPr>
        </p:nvSpPr>
        <p:spPr/>
        <p:txBody>
          <a:bodyPr/>
          <a:lstStyle/>
          <a:p>
            <a:r>
              <a:rPr lang="en-US" dirty="0"/>
              <a:t>DATABASE DESIGN</a:t>
            </a:r>
          </a:p>
        </p:txBody>
      </p:sp>
      <p:sp>
        <p:nvSpPr>
          <p:cNvPr id="3" name="Content Placeholder 2">
            <a:extLst>
              <a:ext uri="{FF2B5EF4-FFF2-40B4-BE49-F238E27FC236}">
                <a16:creationId xmlns:a16="http://schemas.microsoft.com/office/drawing/2014/main" id="{8181B9C5-70F5-9DC1-8E8D-5BD5E1B5AACA}"/>
              </a:ext>
            </a:extLst>
          </p:cNvPr>
          <p:cNvSpPr>
            <a:spLocks noGrp="1"/>
          </p:cNvSpPr>
          <p:nvPr>
            <p:ph idx="1"/>
          </p:nvPr>
        </p:nvSpPr>
        <p:spPr/>
        <p:txBody>
          <a:bodyPr/>
          <a:lstStyle/>
          <a:p>
            <a:pPr marL="0" indent="0">
              <a:buNone/>
            </a:pPr>
            <a:r>
              <a:rPr lang="en-US" dirty="0"/>
              <a:t>Main entities used in the database:</a:t>
            </a:r>
          </a:p>
          <a:p>
            <a:pPr marL="0" indent="0">
              <a:buNone/>
            </a:pPr>
            <a:r>
              <a:rPr lang="en-US" dirty="0"/>
              <a:t>Books</a:t>
            </a:r>
          </a:p>
          <a:p>
            <a:pPr marL="0" indent="0">
              <a:buNone/>
            </a:pPr>
            <a:r>
              <a:rPr lang="en-US" dirty="0"/>
              <a:t>Borrow</a:t>
            </a:r>
          </a:p>
          <a:p>
            <a:pPr marL="0" indent="0">
              <a:buNone/>
            </a:pPr>
            <a:r>
              <a:rPr lang="en-US" dirty="0"/>
              <a:t>Return</a:t>
            </a:r>
          </a:p>
          <a:p>
            <a:pPr marL="0" indent="0">
              <a:buNone/>
            </a:pPr>
            <a:r>
              <a:rPr lang="en-US" dirty="0"/>
              <a:t>Loans</a:t>
            </a:r>
          </a:p>
          <a:p>
            <a:pPr marL="0" indent="0">
              <a:buNone/>
            </a:pPr>
            <a:r>
              <a:rPr lang="en-US" dirty="0"/>
              <a:t>Fine and payment </a:t>
            </a:r>
          </a:p>
        </p:txBody>
      </p:sp>
    </p:spTree>
    <p:extLst>
      <p:ext uri="{BB962C8B-B14F-4D97-AF65-F5344CB8AC3E}">
        <p14:creationId xmlns:p14="http://schemas.microsoft.com/office/powerpoint/2010/main" val="1686498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8EC3-E61C-4BFA-D317-F6519F135CDA}"/>
              </a:ext>
            </a:extLst>
          </p:cNvPr>
          <p:cNvSpPr>
            <a:spLocks noGrp="1"/>
          </p:cNvSpPr>
          <p:nvPr>
            <p:ph type="title"/>
          </p:nvPr>
        </p:nvSpPr>
        <p:spPr>
          <a:xfrm>
            <a:off x="839788" y="-160421"/>
            <a:ext cx="10515600" cy="2245895"/>
          </a:xfrm>
        </p:spPr>
        <p:txBody>
          <a:bodyPr>
            <a:normAutofit/>
          </a:bodyPr>
          <a:lstStyle/>
          <a:p>
            <a:pPr algn="ctr"/>
            <a:r>
              <a:rPr lang="en-US" dirty="0"/>
              <a:t>ENTITIES AND ATTRIBUTES.</a:t>
            </a:r>
            <a:br>
              <a:rPr lang="en-US" dirty="0"/>
            </a:br>
            <a:r>
              <a:rPr lang="en-US" sz="2200" dirty="0"/>
              <a:t>Attributes describe the properties of each entity and </a:t>
            </a:r>
            <a:r>
              <a:rPr lang="en-US" altLang="en-US" sz="2200" dirty="0">
                <a:latin typeface="Arial" panose="020B0604020202020204" pitchFamily="34" charset="0"/>
              </a:rPr>
              <a:t>Entities represent objects stored in the database.</a:t>
            </a:r>
            <a:br>
              <a:rPr lang="en-US" altLang="en-US" sz="2200" dirty="0">
                <a:latin typeface="Arial" panose="020B0604020202020204" pitchFamily="34" charset="0"/>
              </a:rPr>
            </a:br>
            <a:endParaRPr lang="en-US" sz="2200" dirty="0"/>
          </a:p>
        </p:txBody>
      </p:sp>
      <p:sp>
        <p:nvSpPr>
          <p:cNvPr id="6" name="Text Placeholder 5">
            <a:extLst>
              <a:ext uri="{FF2B5EF4-FFF2-40B4-BE49-F238E27FC236}">
                <a16:creationId xmlns:a16="http://schemas.microsoft.com/office/drawing/2014/main" id="{287BBF1F-8F6A-D9FA-401C-956826E580CD}"/>
              </a:ext>
            </a:extLst>
          </p:cNvPr>
          <p:cNvSpPr>
            <a:spLocks noGrp="1"/>
          </p:cNvSpPr>
          <p:nvPr>
            <p:ph type="body" idx="1"/>
          </p:nvPr>
        </p:nvSpPr>
        <p:spPr/>
        <p:txBody>
          <a:bodyPr/>
          <a:lstStyle/>
          <a:p>
            <a:r>
              <a:rPr lang="en-US" dirty="0"/>
              <a:t>Entity</a:t>
            </a:r>
          </a:p>
        </p:txBody>
      </p:sp>
      <p:sp>
        <p:nvSpPr>
          <p:cNvPr id="7" name="Content Placeholder 6">
            <a:extLst>
              <a:ext uri="{FF2B5EF4-FFF2-40B4-BE49-F238E27FC236}">
                <a16:creationId xmlns:a16="http://schemas.microsoft.com/office/drawing/2014/main" id="{B379A2EA-EA30-60CD-F3AE-31C7DDF79198}"/>
              </a:ext>
            </a:extLst>
          </p:cNvPr>
          <p:cNvSpPr>
            <a:spLocks noGrp="1"/>
          </p:cNvSpPr>
          <p:nvPr>
            <p:ph sz="half" idx="2"/>
          </p:nvPr>
        </p:nvSpPr>
        <p:spPr/>
        <p:txBody>
          <a:bodyPr>
            <a:normAutofit fontScale="92500" lnSpcReduction="20000"/>
          </a:bodyPr>
          <a:lstStyle/>
          <a:p>
            <a:pPr marL="0" indent="0">
              <a:buNone/>
            </a:pPr>
            <a:r>
              <a:rPr lang="en-US" dirty="0"/>
              <a:t>Books</a:t>
            </a:r>
          </a:p>
          <a:p>
            <a:pPr marL="0" indent="0">
              <a:buNone/>
            </a:pPr>
            <a:r>
              <a:rPr lang="en-US" dirty="0"/>
              <a:t>Borrow</a:t>
            </a:r>
          </a:p>
          <a:p>
            <a:pPr marL="0" indent="0">
              <a:buNone/>
            </a:pPr>
            <a:endParaRPr lang="en-US" dirty="0"/>
          </a:p>
          <a:p>
            <a:pPr marL="0" indent="0">
              <a:buNone/>
            </a:pPr>
            <a:r>
              <a:rPr lang="en-US" dirty="0"/>
              <a:t>loans</a:t>
            </a:r>
          </a:p>
          <a:p>
            <a:pPr marL="0" indent="0">
              <a:buNone/>
            </a:pPr>
            <a:endParaRPr lang="en-US" dirty="0"/>
          </a:p>
          <a:p>
            <a:pPr marL="0" indent="0">
              <a:buNone/>
            </a:pPr>
            <a:r>
              <a:rPr lang="en-US" dirty="0"/>
              <a:t>returns</a:t>
            </a:r>
          </a:p>
          <a:p>
            <a:pPr marL="0" indent="0">
              <a:buNone/>
            </a:pPr>
            <a:endParaRPr lang="en-US" dirty="0"/>
          </a:p>
          <a:p>
            <a:pPr marL="0" indent="0">
              <a:buNone/>
            </a:pPr>
            <a:r>
              <a:rPr lang="en-US" dirty="0"/>
              <a:t>members</a:t>
            </a:r>
          </a:p>
        </p:txBody>
      </p:sp>
      <p:sp>
        <p:nvSpPr>
          <p:cNvPr id="8" name="Text Placeholder 7">
            <a:extLst>
              <a:ext uri="{FF2B5EF4-FFF2-40B4-BE49-F238E27FC236}">
                <a16:creationId xmlns:a16="http://schemas.microsoft.com/office/drawing/2014/main" id="{86C3E1B3-75DA-4D41-87E6-795EEECA2455}"/>
              </a:ext>
            </a:extLst>
          </p:cNvPr>
          <p:cNvSpPr>
            <a:spLocks noGrp="1"/>
          </p:cNvSpPr>
          <p:nvPr>
            <p:ph type="body" sz="quarter" idx="3"/>
          </p:nvPr>
        </p:nvSpPr>
        <p:spPr/>
        <p:txBody>
          <a:bodyPr/>
          <a:lstStyle/>
          <a:p>
            <a:r>
              <a:rPr lang="en-US" dirty="0"/>
              <a:t>Attribute</a:t>
            </a:r>
          </a:p>
        </p:txBody>
      </p:sp>
      <p:sp>
        <p:nvSpPr>
          <p:cNvPr id="9" name="Content Placeholder 8">
            <a:extLst>
              <a:ext uri="{FF2B5EF4-FFF2-40B4-BE49-F238E27FC236}">
                <a16:creationId xmlns:a16="http://schemas.microsoft.com/office/drawing/2014/main" id="{E098B1B3-FB19-9049-72B0-D53D2598F0D2}"/>
              </a:ext>
            </a:extLst>
          </p:cNvPr>
          <p:cNvSpPr>
            <a:spLocks noGrp="1"/>
          </p:cNvSpPr>
          <p:nvPr>
            <p:ph sz="quarter" idx="4"/>
          </p:nvPr>
        </p:nvSpPr>
        <p:spPr/>
        <p:txBody>
          <a:bodyPr>
            <a:normAutofit fontScale="92500" lnSpcReduction="20000"/>
          </a:bodyPr>
          <a:lstStyle/>
          <a:p>
            <a:pPr marL="0" indent="0">
              <a:buNone/>
            </a:pPr>
            <a:r>
              <a:rPr lang="en-US" dirty="0"/>
              <a:t>Book ID, Title, Author, Category</a:t>
            </a:r>
          </a:p>
          <a:p>
            <a:pPr marL="0" indent="0">
              <a:buNone/>
            </a:pPr>
            <a:r>
              <a:rPr lang="en-US" dirty="0"/>
              <a:t>Borrow ID, Member ID, Book ID, Borrow Date</a:t>
            </a:r>
          </a:p>
          <a:p>
            <a:pPr marL="0" indent="0">
              <a:buNone/>
            </a:pPr>
            <a:r>
              <a:rPr lang="en-US" dirty="0" err="1"/>
              <a:t>LoanID</a:t>
            </a:r>
            <a:r>
              <a:rPr lang="en-US" dirty="0"/>
              <a:t>, </a:t>
            </a:r>
            <a:r>
              <a:rPr lang="en-US" dirty="0" err="1"/>
              <a:t>BookID</a:t>
            </a:r>
            <a:r>
              <a:rPr lang="en-US" dirty="0"/>
              <a:t>,  Loan Date, </a:t>
            </a:r>
            <a:r>
              <a:rPr lang="en-US" dirty="0" err="1"/>
              <a:t>DueDate</a:t>
            </a:r>
            <a:r>
              <a:rPr lang="en-US" dirty="0"/>
              <a:t> , Return Date, Status</a:t>
            </a:r>
          </a:p>
          <a:p>
            <a:pPr marL="0" indent="0">
              <a:buNone/>
            </a:pPr>
            <a:r>
              <a:rPr lang="en-US" dirty="0"/>
              <a:t>  ReturnID , </a:t>
            </a:r>
            <a:r>
              <a:rPr lang="en-US" dirty="0" err="1"/>
              <a:t>LoanID</a:t>
            </a:r>
            <a:r>
              <a:rPr lang="en-US" dirty="0"/>
              <a:t>, </a:t>
            </a:r>
            <a:r>
              <a:rPr lang="en-US" dirty="0" err="1"/>
              <a:t>MemberID</a:t>
            </a:r>
            <a:r>
              <a:rPr lang="en-US" dirty="0"/>
              <a:t> ,      </a:t>
            </a:r>
            <a:r>
              <a:rPr lang="en-US" dirty="0" err="1"/>
              <a:t>MemberID</a:t>
            </a:r>
            <a:r>
              <a:rPr lang="en-US" dirty="0"/>
              <a:t>, Return Date , Fine Amount,</a:t>
            </a:r>
          </a:p>
          <a:p>
            <a:pPr marL="0" indent="0">
              <a:buNone/>
            </a:pPr>
            <a:r>
              <a:rPr lang="en-US" dirty="0"/>
              <a:t> </a:t>
            </a:r>
            <a:r>
              <a:rPr lang="en-US" b="1" dirty="0" err="1"/>
              <a:t>MemberID</a:t>
            </a:r>
            <a:r>
              <a:rPr lang="en-US" dirty="0"/>
              <a:t> , Names, Gender,</a:t>
            </a:r>
            <a:r>
              <a:rPr lang="en-US" b="1" dirty="0"/>
              <a:t> Phone Number</a:t>
            </a:r>
            <a:r>
              <a:rPr lang="en-US" dirty="0"/>
              <a:t> </a:t>
            </a:r>
          </a:p>
        </p:txBody>
      </p:sp>
      <p:sp>
        <p:nvSpPr>
          <p:cNvPr id="11" name="Rectangle 2">
            <a:extLst>
              <a:ext uri="{FF2B5EF4-FFF2-40B4-BE49-F238E27FC236}">
                <a16:creationId xmlns:a16="http://schemas.microsoft.com/office/drawing/2014/main" id="{16F407F8-5244-BD7C-CF58-AC9638F925C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642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73851-104F-58F4-F461-E6046C18058F}"/>
              </a:ext>
            </a:extLst>
          </p:cNvPr>
          <p:cNvSpPr>
            <a:spLocks noGrp="1"/>
          </p:cNvSpPr>
          <p:nvPr>
            <p:ph type="title"/>
          </p:nvPr>
        </p:nvSpPr>
        <p:spPr/>
        <p:txBody>
          <a:bodyPr/>
          <a:lstStyle/>
          <a:p>
            <a:r>
              <a:rPr lang="en-US" dirty="0"/>
              <a:t>DATABASE OPERATIONS</a:t>
            </a:r>
          </a:p>
        </p:txBody>
      </p:sp>
      <p:sp>
        <p:nvSpPr>
          <p:cNvPr id="9" name="Content Placeholder 8">
            <a:extLst>
              <a:ext uri="{FF2B5EF4-FFF2-40B4-BE49-F238E27FC236}">
                <a16:creationId xmlns:a16="http://schemas.microsoft.com/office/drawing/2014/main" id="{D313A8B6-560A-35B7-5A91-2B2C2DC0994E}"/>
              </a:ext>
            </a:extLst>
          </p:cNvPr>
          <p:cNvSpPr>
            <a:spLocks noGrp="1"/>
          </p:cNvSpPr>
          <p:nvPr>
            <p:ph idx="1"/>
          </p:nvPr>
        </p:nvSpPr>
        <p:spPr/>
        <p:txBody>
          <a:bodyPr/>
          <a:lstStyle/>
          <a:p>
            <a:pPr marL="0" indent="0">
              <a:buNone/>
            </a:pPr>
            <a:r>
              <a:rPr lang="en-US" sz="4000" dirty="0"/>
              <a:t>Operations performed</a:t>
            </a:r>
          </a:p>
          <a:p>
            <a:pPr marL="0" indent="0">
              <a:buNone/>
            </a:pPr>
            <a:r>
              <a:rPr lang="en-US" dirty="0"/>
              <a:t>Insert records</a:t>
            </a:r>
          </a:p>
          <a:p>
            <a:pPr marL="0" indent="0">
              <a:buNone/>
            </a:pPr>
            <a:r>
              <a:rPr lang="en-US" dirty="0"/>
              <a:t>Update records</a:t>
            </a:r>
          </a:p>
          <a:p>
            <a:pPr marL="0" indent="0">
              <a:buNone/>
            </a:pPr>
            <a:r>
              <a:rPr lang="en-US" dirty="0"/>
              <a:t>Delete records</a:t>
            </a:r>
          </a:p>
          <a:p>
            <a:pPr marL="0" indent="0">
              <a:buNone/>
            </a:pPr>
            <a:r>
              <a:rPr lang="en-US" dirty="0"/>
              <a:t>Retrieve records</a:t>
            </a:r>
          </a:p>
          <a:p>
            <a:pPr marL="0" indent="0">
              <a:buNone/>
            </a:pPr>
            <a:r>
              <a:rPr lang="en-US" dirty="0"/>
              <a:t>The database supports all major operations of add, edit, remove, and search for information and the 	SQL queries are performed using these operations</a:t>
            </a:r>
          </a:p>
        </p:txBody>
      </p:sp>
    </p:spTree>
    <p:extLst>
      <p:ext uri="{BB962C8B-B14F-4D97-AF65-F5344CB8AC3E}">
        <p14:creationId xmlns:p14="http://schemas.microsoft.com/office/powerpoint/2010/main" val="959139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5E7F1-10A6-8C7E-3DDD-0CB016E2D2FB}"/>
              </a:ext>
            </a:extLst>
          </p:cNvPr>
          <p:cNvSpPr>
            <a:spLocks noGrp="1"/>
          </p:cNvSpPr>
          <p:nvPr>
            <p:ph type="title"/>
          </p:nvPr>
        </p:nvSpPr>
        <p:spPr/>
        <p:txBody>
          <a:bodyPr/>
          <a:lstStyle/>
          <a:p>
            <a:r>
              <a:rPr lang="en-US" dirty="0"/>
              <a:t>MYSQL TABLE CREATION</a:t>
            </a:r>
          </a:p>
        </p:txBody>
      </p:sp>
      <p:sp>
        <p:nvSpPr>
          <p:cNvPr id="3" name="Content Placeholder 2">
            <a:extLst>
              <a:ext uri="{FF2B5EF4-FFF2-40B4-BE49-F238E27FC236}">
                <a16:creationId xmlns:a16="http://schemas.microsoft.com/office/drawing/2014/main" id="{2D9C303E-6E1B-8FAC-9BFF-9190540BA9C3}"/>
              </a:ext>
            </a:extLst>
          </p:cNvPr>
          <p:cNvSpPr>
            <a:spLocks noGrp="1"/>
          </p:cNvSpPr>
          <p:nvPr>
            <p:ph idx="1"/>
          </p:nvPr>
        </p:nvSpPr>
        <p:spPr/>
        <p:txBody>
          <a:bodyPr/>
          <a:lstStyle/>
          <a:p>
            <a:pPr marL="0" indent="0">
              <a:buNone/>
            </a:pPr>
            <a:r>
              <a:rPr lang="en-US" dirty="0"/>
              <a:t>      So, I typed MySQL –u root then enter and create database then database name  then use database the database name then I would begin to create my tables.</a:t>
            </a:r>
          </a:p>
          <a:p>
            <a:pPr marL="0" indent="0">
              <a:buNone/>
            </a:pPr>
            <a:endParaRPr lang="en-US" dirty="0"/>
          </a:p>
        </p:txBody>
      </p:sp>
    </p:spTree>
    <p:extLst>
      <p:ext uri="{BB962C8B-B14F-4D97-AF65-F5344CB8AC3E}">
        <p14:creationId xmlns:p14="http://schemas.microsoft.com/office/powerpoint/2010/main" val="1044862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B43E5-7B4C-B4D4-A48F-5876C10C716F}"/>
              </a:ext>
            </a:extLst>
          </p:cNvPr>
          <p:cNvSpPr>
            <a:spLocks noGrp="1"/>
          </p:cNvSpPr>
          <p:nvPr>
            <p:ph type="title"/>
          </p:nvPr>
        </p:nvSpPr>
        <p:spPr/>
        <p:txBody>
          <a:bodyPr>
            <a:normAutofit/>
          </a:bodyPr>
          <a:lstStyle/>
          <a:p>
            <a:r>
              <a:rPr lang="en-US" b="1" dirty="0"/>
              <a:t>Example of the tables</a:t>
            </a:r>
          </a:p>
        </p:txBody>
      </p:sp>
      <p:pic>
        <p:nvPicPr>
          <p:cNvPr id="5" name="Content Placeholder 4">
            <a:extLst>
              <a:ext uri="{FF2B5EF4-FFF2-40B4-BE49-F238E27FC236}">
                <a16:creationId xmlns:a16="http://schemas.microsoft.com/office/drawing/2014/main" id="{097E7858-A282-3ED6-B98E-64326F4D3F42}"/>
              </a:ext>
            </a:extLst>
          </p:cNvPr>
          <p:cNvPicPr>
            <a:picLocks noGrp="1" noChangeAspect="1"/>
          </p:cNvPicPr>
          <p:nvPr>
            <p:ph idx="1"/>
          </p:nvPr>
        </p:nvPicPr>
        <p:blipFill>
          <a:blip r:embed="rId2"/>
          <a:stretch/>
        </p:blipFill>
        <p:spPr>
          <a:xfrm>
            <a:off x="5229727" y="2772067"/>
            <a:ext cx="6962273" cy="2662989"/>
          </a:xfrm>
          <a:prstGeom prst="rect">
            <a:avLst/>
          </a:prstGeom>
        </p:spPr>
      </p:pic>
      <p:sp>
        <p:nvSpPr>
          <p:cNvPr id="7" name="Text Placeholder 6">
            <a:extLst>
              <a:ext uri="{FF2B5EF4-FFF2-40B4-BE49-F238E27FC236}">
                <a16:creationId xmlns:a16="http://schemas.microsoft.com/office/drawing/2014/main" id="{A1494CF3-C9B9-552B-CD46-1EE7810BF5C9}"/>
              </a:ext>
            </a:extLst>
          </p:cNvPr>
          <p:cNvSpPr>
            <a:spLocks noGrp="1"/>
          </p:cNvSpPr>
          <p:nvPr>
            <p:ph type="body" sz="half" idx="2"/>
          </p:nvPr>
        </p:nvSpPr>
        <p:spPr>
          <a:xfrm>
            <a:off x="839788" y="2197768"/>
            <a:ext cx="3932237" cy="3811588"/>
          </a:xfrm>
        </p:spPr>
        <p:txBody>
          <a:bodyPr>
            <a:normAutofit/>
          </a:bodyPr>
          <a:lstStyle/>
          <a:p>
            <a:r>
              <a:rPr lang="en-US" sz="2800" dirty="0"/>
              <a:t>SQL commands were used to create the tables.</a:t>
            </a:r>
          </a:p>
          <a:p>
            <a:r>
              <a:rPr lang="en-US" sz="2800" dirty="0"/>
              <a:t>The primary keys uniquely identifies each record</a:t>
            </a:r>
          </a:p>
          <a:p>
            <a:r>
              <a:rPr lang="en-US" sz="2800" dirty="0"/>
              <a:t>The data types were assigned to each attribute</a:t>
            </a:r>
          </a:p>
        </p:txBody>
      </p:sp>
    </p:spTree>
    <p:extLst>
      <p:ext uri="{BB962C8B-B14F-4D97-AF65-F5344CB8AC3E}">
        <p14:creationId xmlns:p14="http://schemas.microsoft.com/office/powerpoint/2010/main" val="3994077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A0A72-D211-D6B8-E590-C34B555C6B06}"/>
              </a:ext>
            </a:extLst>
          </p:cNvPr>
          <p:cNvSpPr>
            <a:spLocks noGrp="1"/>
          </p:cNvSpPr>
          <p:nvPr>
            <p:ph type="title"/>
          </p:nvPr>
        </p:nvSpPr>
        <p:spPr/>
        <p:txBody>
          <a:bodyPr/>
          <a:lstStyle/>
          <a:p>
            <a:r>
              <a:rPr lang="en-US" dirty="0"/>
              <a:t>Sample data entry</a:t>
            </a:r>
          </a:p>
        </p:txBody>
      </p:sp>
      <p:pic>
        <p:nvPicPr>
          <p:cNvPr id="5" name="Content Placeholder 4">
            <a:extLst>
              <a:ext uri="{FF2B5EF4-FFF2-40B4-BE49-F238E27FC236}">
                <a16:creationId xmlns:a16="http://schemas.microsoft.com/office/drawing/2014/main" id="{03942BA7-6C95-320D-AE0C-CE4BE171CC84}"/>
              </a:ext>
            </a:extLst>
          </p:cNvPr>
          <p:cNvPicPr>
            <a:picLocks noGrp="1" noChangeAspect="1"/>
          </p:cNvPicPr>
          <p:nvPr>
            <p:ph sz="half" idx="1"/>
          </p:nvPr>
        </p:nvPicPr>
        <p:blipFill>
          <a:blip r:embed="rId2"/>
          <a:stretch>
            <a:fillRect/>
          </a:stretch>
        </p:blipFill>
        <p:spPr>
          <a:xfrm>
            <a:off x="561474" y="1690689"/>
            <a:ext cx="5299701" cy="1004386"/>
          </a:xfrm>
          <a:prstGeom prst="rect">
            <a:avLst/>
          </a:prstGeom>
        </p:spPr>
      </p:pic>
      <p:sp>
        <p:nvSpPr>
          <p:cNvPr id="7" name="Content Placeholder 6">
            <a:extLst>
              <a:ext uri="{FF2B5EF4-FFF2-40B4-BE49-F238E27FC236}">
                <a16:creationId xmlns:a16="http://schemas.microsoft.com/office/drawing/2014/main" id="{7CCBBAC7-C445-283D-CCAD-566372B6901A}"/>
              </a:ext>
            </a:extLst>
          </p:cNvPr>
          <p:cNvSpPr>
            <a:spLocks noGrp="1"/>
          </p:cNvSpPr>
          <p:nvPr>
            <p:ph sz="half" idx="2"/>
          </p:nvPr>
        </p:nvSpPr>
        <p:spPr/>
        <p:txBody>
          <a:bodyPr/>
          <a:lstStyle/>
          <a:p>
            <a:pPr marL="0" indent="0">
              <a:buNone/>
            </a:pPr>
            <a:endParaRPr lang="en-US" dirty="0"/>
          </a:p>
          <a:p>
            <a:pPr marL="0" indent="0">
              <a:buNone/>
            </a:pPr>
            <a:r>
              <a:rPr lang="en-US" dirty="0"/>
              <a:t>After creating tables, records were inserted into the database.</a:t>
            </a:r>
          </a:p>
          <a:p>
            <a:pPr marL="0" indent="0">
              <a:buNone/>
            </a:pPr>
            <a:endParaRPr lang="en-US" dirty="0"/>
          </a:p>
          <a:p>
            <a:pPr marL="0" indent="0">
              <a:buNone/>
            </a:pPr>
            <a:r>
              <a:rPr lang="en-US" dirty="0"/>
              <a:t>SQL INSERT statements were used to add sample data.</a:t>
            </a:r>
          </a:p>
        </p:txBody>
      </p:sp>
    </p:spTree>
    <p:extLst>
      <p:ext uri="{BB962C8B-B14F-4D97-AF65-F5344CB8AC3E}">
        <p14:creationId xmlns:p14="http://schemas.microsoft.com/office/powerpoint/2010/main" val="1542330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148F2B-9B3B-2ABC-B0F9-87BD80EE32E7}"/>
              </a:ext>
            </a:extLst>
          </p:cNvPr>
          <p:cNvSpPr>
            <a:spLocks noGrp="1"/>
          </p:cNvSpPr>
          <p:nvPr>
            <p:ph type="title"/>
          </p:nvPr>
        </p:nvSpPr>
        <p:spPr/>
        <p:txBody>
          <a:bodyPr/>
          <a:lstStyle/>
          <a:p>
            <a:r>
              <a:rPr lang="en-US" dirty="0"/>
              <a:t>NORMALIZATION</a:t>
            </a:r>
          </a:p>
        </p:txBody>
      </p:sp>
      <p:sp>
        <p:nvSpPr>
          <p:cNvPr id="6" name="Content Placeholder 5">
            <a:extLst>
              <a:ext uri="{FF2B5EF4-FFF2-40B4-BE49-F238E27FC236}">
                <a16:creationId xmlns:a16="http://schemas.microsoft.com/office/drawing/2014/main" id="{4FEDB51D-44EA-93EC-0539-8696F17A79AD}"/>
              </a:ext>
            </a:extLst>
          </p:cNvPr>
          <p:cNvSpPr>
            <a:spLocks noGrp="1"/>
          </p:cNvSpPr>
          <p:nvPr>
            <p:ph idx="1"/>
          </p:nvPr>
        </p:nvSpPr>
        <p:spPr/>
        <p:txBody>
          <a:bodyPr/>
          <a:lstStyle/>
          <a:p>
            <a:pPr marL="0" indent="0">
              <a:buNone/>
            </a:pPr>
            <a:r>
              <a:rPr lang="en-US" dirty="0"/>
              <a:t>     </a:t>
            </a:r>
          </a:p>
          <a:p>
            <a:pPr marL="0" indent="0">
              <a:buNone/>
            </a:pPr>
            <a:r>
              <a:rPr lang="en-US" dirty="0"/>
              <a:t>        Normalization was applied by separating the database into related tables such as Members, Books, and Borrow tables. Duplicate information like member names and book titles was stored only once and linked using primary and foreign keys. This reduced data redundancy and improved data consistency in the MySQL database.</a:t>
            </a:r>
          </a:p>
        </p:txBody>
      </p:sp>
    </p:spTree>
    <p:extLst>
      <p:ext uri="{BB962C8B-B14F-4D97-AF65-F5344CB8AC3E}">
        <p14:creationId xmlns:p14="http://schemas.microsoft.com/office/powerpoint/2010/main" val="477830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8868-E9C7-B3EB-1B20-A1249191D229}"/>
              </a:ext>
            </a:extLst>
          </p:cNvPr>
          <p:cNvSpPr>
            <a:spLocks noGrp="1"/>
          </p:cNvSpPr>
          <p:nvPr>
            <p:ph type="title"/>
          </p:nvPr>
        </p:nvSpPr>
        <p:spPr/>
        <p:txBody>
          <a:bodyPr/>
          <a:lstStyle/>
          <a:p>
            <a:r>
              <a:rPr lang="en-US" dirty="0"/>
              <a:t>Example of  the relationship diagram</a:t>
            </a:r>
          </a:p>
        </p:txBody>
      </p:sp>
      <p:pic>
        <p:nvPicPr>
          <p:cNvPr id="7" name="Content Placeholder 6">
            <a:extLst>
              <a:ext uri="{FF2B5EF4-FFF2-40B4-BE49-F238E27FC236}">
                <a16:creationId xmlns:a16="http://schemas.microsoft.com/office/drawing/2014/main" id="{200F1942-DB68-F27B-34C7-2437255DEEE6}"/>
              </a:ext>
            </a:extLst>
          </p:cNvPr>
          <p:cNvPicPr>
            <a:picLocks noGrp="1" noChangeAspect="1"/>
          </p:cNvPicPr>
          <p:nvPr>
            <p:ph idx="1"/>
          </p:nvPr>
        </p:nvPicPr>
        <p:blipFill>
          <a:blip r:embed="rId2"/>
          <a:stretch>
            <a:fillRect/>
          </a:stretch>
        </p:blipFill>
        <p:spPr>
          <a:xfrm>
            <a:off x="838200" y="1524000"/>
            <a:ext cx="10038347" cy="4219074"/>
          </a:xfrm>
          <a:prstGeom prst="rect">
            <a:avLst/>
          </a:prstGeom>
        </p:spPr>
      </p:pic>
    </p:spTree>
    <p:extLst>
      <p:ext uri="{BB962C8B-B14F-4D97-AF65-F5344CB8AC3E}">
        <p14:creationId xmlns:p14="http://schemas.microsoft.com/office/powerpoint/2010/main" val="2401900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1A48-7C56-BF02-744E-72AFD5DF275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0C75BA4-64BF-C272-2544-592DDF125C0A}"/>
              </a:ext>
            </a:extLst>
          </p:cNvPr>
          <p:cNvSpPr>
            <a:spLocks noGrp="1"/>
          </p:cNvSpPr>
          <p:nvPr>
            <p:ph idx="1"/>
          </p:nvPr>
        </p:nvSpPr>
        <p:spPr/>
        <p:txBody>
          <a:bodyPr/>
          <a:lstStyle/>
          <a:p>
            <a:pPr marL="0" indent="0">
              <a:buNone/>
            </a:pPr>
            <a:r>
              <a:rPr lang="en-US" dirty="0"/>
              <a:t>Conclusively I was able to come up with a functioning system and achieved my ma goals which are:</a:t>
            </a:r>
          </a:p>
          <a:p>
            <a:pPr marL="0" indent="0">
              <a:buNone/>
            </a:pPr>
            <a:r>
              <a:rPr lang="en-US" dirty="0"/>
              <a:t> </a:t>
            </a:r>
            <a:r>
              <a:rPr lang="en-US" dirty="0">
                <a:solidFill>
                  <a:srgbClr val="0D0D0D"/>
                </a:solidFill>
                <a:latin typeface="Segoe UI Variable Text" pitchFamily="2" charset="0"/>
              </a:rPr>
              <a:t>Automated library circulation activities</a:t>
            </a:r>
          </a:p>
          <a:p>
            <a:pPr marL="0" indent="0">
              <a:buNone/>
            </a:pPr>
            <a:r>
              <a:rPr lang="en-US" dirty="0">
                <a:solidFill>
                  <a:srgbClr val="0D0D0D"/>
                </a:solidFill>
                <a:latin typeface="Segoe UI Variable Text" pitchFamily="2" charset="0"/>
              </a:rPr>
              <a:t>Reduced data redundancy using normalization </a:t>
            </a:r>
          </a:p>
          <a:p>
            <a:pPr marL="0" indent="0">
              <a:buNone/>
            </a:pPr>
            <a:r>
              <a:rPr lang="en-US" dirty="0">
                <a:solidFill>
                  <a:srgbClr val="0D0D0D"/>
                </a:solidFill>
                <a:latin typeface="Segoe UI Variable Text" pitchFamily="2" charset="0"/>
              </a:rPr>
              <a:t>Improved accuracy and efficiency</a:t>
            </a:r>
          </a:p>
          <a:p>
            <a:pPr marL="0" indent="0">
              <a:buNone/>
            </a:pPr>
            <a:r>
              <a:rPr lang="en-US" dirty="0">
                <a:solidFill>
                  <a:srgbClr val="0D0D0D"/>
                </a:solidFill>
                <a:latin typeface="Segoe UI Variable Text" pitchFamily="2" charset="0"/>
              </a:rPr>
              <a:t>Managed borrowing and returning of books effectively</a:t>
            </a:r>
          </a:p>
          <a:p>
            <a:pPr marL="0" indent="0">
              <a:buNone/>
            </a:pPr>
            <a:r>
              <a:rPr lang="en-US" dirty="0">
                <a:solidFill>
                  <a:srgbClr val="0D0D0D"/>
                </a:solidFill>
                <a:latin typeface="Segoe UI Variable Text" pitchFamily="2" charset="0"/>
              </a:rPr>
              <a:t>I achieved all the above using MYSQL</a:t>
            </a:r>
            <a:endParaRPr lang="en-US" dirty="0"/>
          </a:p>
        </p:txBody>
      </p:sp>
    </p:spTree>
    <p:extLst>
      <p:ext uri="{BB962C8B-B14F-4D97-AF65-F5344CB8AC3E}">
        <p14:creationId xmlns:p14="http://schemas.microsoft.com/office/powerpoint/2010/main" val="247099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837</TotalTime>
  <Words>594</Words>
  <Application>Microsoft Office PowerPoint</Application>
  <PresentationFormat>Widescreen</PresentationFormat>
  <Paragraphs>81</Paragraphs>
  <Slides>15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Calibri</vt:lpstr>
      <vt:lpstr>Calibri Light</vt:lpstr>
      <vt:lpstr>Segoe UI Variable Text</vt:lpstr>
      <vt:lpstr>Times New Roman</vt:lpstr>
      <vt:lpstr>Office Theme</vt:lpstr>
      <vt:lpstr>Custom Design</vt:lpstr>
      <vt:lpstr>DATABASE SYSTEMS PROJECT</vt:lpstr>
      <vt:lpstr>         The library circulation system</vt:lpstr>
      <vt:lpstr>PROJECT OBJECTIVES</vt:lpstr>
      <vt:lpstr>Major importance and problem solved</vt:lpstr>
      <vt:lpstr>Major goals of our system</vt:lpstr>
      <vt:lpstr>SCOPE OF THE SYSTEM</vt:lpstr>
      <vt:lpstr>DATABASE DESIGN</vt:lpstr>
      <vt:lpstr>ENTITIES AND ATTRIBUTES. Attributes describe the properties of each entity and Entities represent objects stored in the database. </vt:lpstr>
      <vt:lpstr>DATABASE OPERATIONS</vt:lpstr>
      <vt:lpstr>MYSQL TABLE CREATION</vt:lpstr>
      <vt:lpstr>Example of the tables</vt:lpstr>
      <vt:lpstr>Sample data entry</vt:lpstr>
      <vt:lpstr>NORMALIZATION</vt:lpstr>
      <vt:lpstr>Example of  the relationship diagram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tumwebaze vialence</dc:creator>
  <cp:lastModifiedBy>tumwebaze vialence</cp:lastModifiedBy>
  <cp:revision>5</cp:revision>
  <dcterms:created xsi:type="dcterms:W3CDTF">2026-05-05T21:02:58Z</dcterms:created>
  <dcterms:modified xsi:type="dcterms:W3CDTF">2026-05-07T07:21:32Z</dcterms:modified>
</cp:coreProperties>
</file>